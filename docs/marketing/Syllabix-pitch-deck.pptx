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Ouverture. Syllabix certifie les compétences numériques par des épreuves pratiques sur de vrais fichiers, dans le contexte africain. Stade pilote assumé.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problème : des compétences bien réelles mais non certifiées, un frein à l’employabilité, et peu d’outils adaptés au contexte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solution : évaluer par la pratique, certifier de façon vérifiable, et récompenser par des badges partageables. Chiffres structurels, réels par construction.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temps : défi gratuit (accroche), entraînement, puis certification. Le défi rend le tout viral et sans friction.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référentiel : 7 domaines, 21 compétences. Couvre le socle numérique jusqu’à l’IA et l’employabilité.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Quatre différenciateurs : pratique, local, viral, vérifiable.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cascade : les apprenants créent la preuve, qui ouvre les écoles/entreprises, qui ouvrent l’institutionnel.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Modèle : gratuit pour amorcer, certification par code, paiement Mobile Money à venir. B2B (vouchers partenaires) au cœur.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Transparence : produit en ligne et fonctionnel, mais stade pilote assumé, aucune fausse caution. On cherche des partenaires pilotes.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Appel à l’action différencié par public. Toujours une classe/équipe pilote pour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Clôture et appel à l’action : tester, découvrir, devenir partenaire. Rappel de la posture honnête.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943600" cy="5943600"/>
          </a:xfrm>
          <a:prstGeom prst="ellipse">
            <a:avLst/>
          </a:prstGeom>
          <a:solidFill>
            <a:srgbClr val="1A237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3291840"/>
            <a:ext cx="3840480" cy="3840480"/>
          </a:xfrm>
          <a:prstGeom prst="ellipse">
            <a:avLst/>
          </a:prstGeom>
          <a:solidFill>
            <a:srgbClr val="2A2F86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777240"/>
            <a:ext cx="822960" cy="822960"/>
          </a:xfrm>
          <a:prstGeom prst="roundRect">
            <a:avLst>
              <a:gd name="adj" fmla="val 20000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77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600200" y="8229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Syllabix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18488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des compétences numériques — Afrique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8869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et </a:t>
            </a:r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certifier</a:t>
            </a:r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compétences numériques,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40080" y="379476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des épreuves pratiques sur de vrais fichiers.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40080" y="4709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C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Adaptée au contexte ivoirien et africain. Gratuite pour l’apprenant au démarrage.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1965960" cy="457200"/>
          </a:xfrm>
          <a:prstGeom prst="roundRect">
            <a:avLst>
              <a:gd name="adj" fmla="val 50000"/>
            </a:avLst>
          </a:prstGeom>
          <a:solidFill>
            <a:srgbClr val="23297E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5321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PILOTE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595360" y="5623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syllabix-eight.vercel.app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compétences numériques réelles, mais rarement prouvées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630168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514600"/>
            <a:ext cx="640080" cy="640080"/>
          </a:xfrm>
          <a:prstGeom prst="ellipse">
            <a:avLst/>
          </a:prstGeom>
          <a:solidFill>
            <a:srgbClr val="1A237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décalage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384048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Beaucoup de jeunes et de salariés utilisent le numérique au quotidien, sans aucune certification qui l’atteste auprès d’un employeur.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434840" y="2194560"/>
            <a:ext cx="3630168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2514600"/>
            <a:ext cx="640080" cy="64008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frein à l’emploi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754880" y="384048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preuve objective de niveau, difficile de se démarquer — pour le candidat comme pour l’entreprise qui recrute.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0" y="2194560"/>
            <a:ext cx="3630168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49640" y="2514600"/>
            <a:ext cx="640080" cy="64008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4964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d’outils adaptés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549640" y="384048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référentiels existants sont souvent hors-sol : ni Mobile Money, ni applications locales, ni réalités du terrain africain.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qui évalue, entraîne et certifie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C6C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Syllabix mesure le niveau numérique par des mises en situation concrètes — puis délivre un certificat vérifiable en ligne, valable 2 ans, et des badges partageables.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20267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3832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4251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A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88920" y="320040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20267A"/>
          </a:solidFill>
          <a:ln/>
        </p:spPr>
      </p:sp>
      <p:sp>
        <p:nvSpPr>
          <p:cNvPr id="9" name="Text 7"/>
          <p:cNvSpPr/>
          <p:nvPr/>
        </p:nvSpPr>
        <p:spPr>
          <a:xfrm>
            <a:off x="2788920" y="33832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788920" y="4251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A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37760" y="320040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20267A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33832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937760" y="4251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A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86600" y="320040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20267A"/>
          </a:solidFill>
          <a:ln/>
        </p:spPr>
      </p:sp>
      <p:sp>
        <p:nvSpPr>
          <p:cNvPr id="15" name="Text 13"/>
          <p:cNvSpPr/>
          <p:nvPr/>
        </p:nvSpPr>
        <p:spPr>
          <a:xfrm>
            <a:off x="7086600" y="33832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1h45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7086600" y="4251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A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35440" y="320040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20267A"/>
          </a:solidFill>
          <a:ln/>
        </p:spPr>
      </p:sp>
      <p:sp>
        <p:nvSpPr>
          <p:cNvPr id="18" name="Text 16"/>
          <p:cNvSpPr/>
          <p:nvPr/>
        </p:nvSpPr>
        <p:spPr>
          <a:xfrm>
            <a:off x="9235440" y="33832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ans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9235440" y="4251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A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Validité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Épreuves pratiques sur de vrais fichiers Excel, Word et PDF — pas seulement du QCM.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ÇA MARCHE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test sans engagement au certificat reconnu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23160"/>
            <a:ext cx="685800" cy="685800"/>
          </a:xfrm>
          <a:prstGeom prst="ellipse">
            <a:avLst/>
          </a:prstGeom>
          <a:solidFill>
            <a:srgbClr val="1A237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23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920240" y="23500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ton niveau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920240" y="277063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gratuit de 15 minutes, sans compte. La porte d’entrée sans friction.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6616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840480"/>
            <a:ext cx="685800" cy="6858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840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920240" y="37673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Entraîne-toi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920240" y="418795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modules, exercices adaptatifs, feedback immédiat après chaque réponse.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98348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5257800"/>
            <a:ext cx="685800" cy="6858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257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920240" y="51846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Certifie-toi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920240" y="560527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 vérifiable en ligne (2 ans) + badges partageables sur LinkedIn et WhatsApp.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RÉFÉRENTIEL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domaines, du poste de travail à l’intelligence artificielle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441448"/>
            <a:ext cx="548640" cy="548640"/>
          </a:xfrm>
          <a:prstGeom prst="ellipse">
            <a:avLst/>
          </a:prstGeom>
          <a:solidFill>
            <a:srgbClr val="1A237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308152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&amp; Ordinateur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438144" y="214884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712464" y="2441448"/>
            <a:ext cx="548640" cy="548640"/>
          </a:xfrm>
          <a:prstGeom prst="ellipse">
            <a:avLst/>
          </a:prstGeom>
          <a:solidFill>
            <a:srgbClr val="0277BD"/>
          </a:solidFill>
          <a:ln/>
        </p:spPr>
      </p:sp>
      <p:sp>
        <p:nvSpPr>
          <p:cNvPr id="10" name="Text 8"/>
          <p:cNvSpPr/>
          <p:nvPr/>
        </p:nvSpPr>
        <p:spPr>
          <a:xfrm>
            <a:off x="3712464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94176" y="308152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36208" y="214884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10528" y="2441448"/>
            <a:ext cx="548640" cy="548640"/>
          </a:xfrm>
          <a:prstGeom prst="ellipse">
            <a:avLst/>
          </a:prstGeom>
          <a:solidFill>
            <a:srgbClr val="00695C"/>
          </a:solidFill>
          <a:ln/>
        </p:spPr>
      </p:sp>
      <p:sp>
        <p:nvSpPr>
          <p:cNvPr id="14" name="Text 12"/>
          <p:cNvSpPr/>
          <p:nvPr/>
        </p:nvSpPr>
        <p:spPr>
          <a:xfrm>
            <a:off x="6510528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308152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034272" y="214884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308592" y="2441448"/>
            <a:ext cx="548640" cy="54864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8" name="Text 16"/>
          <p:cNvSpPr/>
          <p:nvPr/>
        </p:nvSpPr>
        <p:spPr>
          <a:xfrm>
            <a:off x="9308592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90304" y="308152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Bureautique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388620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4178808"/>
            <a:ext cx="548640" cy="548640"/>
          </a:xfrm>
          <a:prstGeom prst="ellipse">
            <a:avLst/>
          </a:prstGeom>
          <a:solidFill>
            <a:srgbClr val="B71C1C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178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6112" y="481888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Cybersécurité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438144" y="388620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712464" y="4178808"/>
            <a:ext cx="548640" cy="548640"/>
          </a:xfrm>
          <a:prstGeom prst="ellipse">
            <a:avLst/>
          </a:prstGeom>
          <a:solidFill>
            <a:srgbClr val="6A1B9A"/>
          </a:solidFill>
          <a:ln/>
        </p:spPr>
      </p:sp>
      <p:sp>
        <p:nvSpPr>
          <p:cNvPr id="26" name="Text 24"/>
          <p:cNvSpPr/>
          <p:nvPr/>
        </p:nvSpPr>
        <p:spPr>
          <a:xfrm>
            <a:off x="3712464" y="4178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694176" y="481888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236208" y="388620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10528" y="4178808"/>
            <a:ext cx="548640" cy="5486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178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492240" y="481888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Employabilité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module couvre 3 compétences concrètes, évaluées en situation.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NOUS DISTINGUE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Concret, local, et fait pour se partager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487168"/>
            <a:ext cx="566928" cy="566928"/>
          </a:xfrm>
          <a:prstGeom prst="ellipse">
            <a:avLst/>
          </a:prstGeom>
          <a:solidFill>
            <a:srgbClr val="1A237E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37360" y="2414016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Épreuves pratiques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37360" y="281635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de vrais fichiers Excel, Word, PDF. On évalue ce que la personne sait faire, pas ce qu’elle sait réciter.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1945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4808" y="2487168"/>
            <a:ext cx="566928" cy="566928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69480" y="2414016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local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69480" y="281635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Money, applications africaines, situations du quotidien ivoirien. Un référentiel qui parle au terrain.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4178808"/>
            <a:ext cx="566928" cy="566928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178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37360" y="4105656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viraux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737360" y="450799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réussite se partage sur les réseaux et fait grandir la communauté des certifiés.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72200" y="388620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64808" y="4178808"/>
            <a:ext cx="566928" cy="566928"/>
          </a:xfrm>
          <a:prstGeom prst="ellipse">
            <a:avLst/>
          </a:prstGeom>
          <a:solidFill>
            <a:srgbClr val="6A1B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4178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69480" y="4105656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Vérifiable &amp; daté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69480" y="450799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 consultable en ligne par n’importe quel employeur, valable 2 ans.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8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QUI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communauté qui se construit en cascade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630168" cy="3108960"/>
          </a:xfrm>
          <a:prstGeom prst="roundRect">
            <a:avLst>
              <a:gd name="adj" fmla="val 3529"/>
            </a:avLst>
          </a:prstGeom>
          <a:solidFill>
            <a:srgbClr val="1B2270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4231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6012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Apprenants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70332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BE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Demandeurs d’emploi, salariés, curieux : ils testent, s’entraînent et se certifient — gratuitement au démarrage.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34840" y="2194560"/>
            <a:ext cx="3630168" cy="3108960"/>
          </a:xfrm>
          <a:prstGeom prst="roundRect">
            <a:avLst>
              <a:gd name="adj" fmla="val 3529"/>
            </a:avLst>
          </a:prstGeom>
          <a:solidFill>
            <a:srgbClr val="1B2270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24231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75488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Écoles &amp; entreprises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54880" y="370332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BE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Elles amènent des cohortes, suivent la progression via un tableau de bord, et valorisent leurs profils.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0" y="2194560"/>
            <a:ext cx="3630168" cy="3108960"/>
          </a:xfrm>
          <a:prstGeom prst="roundRect">
            <a:avLst>
              <a:gd name="adj" fmla="val 3529"/>
            </a:avLst>
          </a:prstGeom>
          <a:solidFill>
            <a:srgbClr val="1B2270"/>
          </a:solidFill>
          <a:ln/>
        </p:spPr>
      </p:sp>
      <p:sp>
        <p:nvSpPr>
          <p:cNvPr id="13" name="Text 11"/>
          <p:cNvSpPr/>
          <p:nvPr/>
        </p:nvSpPr>
        <p:spPr>
          <a:xfrm>
            <a:off x="8549640" y="24231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FE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54964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Institutions &amp; programmes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549640" y="370332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BEC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Elles s’appuient sur des pilotes mesurés au service de l’employabilité et de l’inclusion numérique.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étage fabrique la preuve qui convainc le suivant.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 pour amorcer, soutenable ensuite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630168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68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8F7E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68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Défi, entraînement, badges d’apprentissage. Le carburant qui fait connaître la plateforme.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2194560"/>
            <a:ext cx="3630168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2468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CEFFC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2468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DE CERTIFICATION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0" y="324612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certification se débloque par un code — offert aux premiers, distribué aux partenaires (dotations, campagnes).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0" y="2194560"/>
            <a:ext cx="3630168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549640" y="2468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DF0E3"/>
          </a:solidFill>
          <a:ln/>
        </p:spPr>
      </p:sp>
      <p:sp>
        <p:nvSpPr>
          <p:cNvPr id="14" name="Text 12"/>
          <p:cNvSpPr/>
          <p:nvPr/>
        </p:nvSpPr>
        <p:spPr>
          <a:xfrm>
            <a:off x="8549640" y="2468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BIENTÔT PAYANT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49640" y="324612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Mobile Money (Orange, MTN, Moov, Wave) et carte, et lots pour les partenaires.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stade pilote, tout est gratuit : on construit d’abord la communauté et la preuve.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EN SOMMES-NOUS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produit qui fonctionne, une posture honnête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468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ligne, aujourd’hui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05840" y="306324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1298448" y="294436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fonctionnelle et accessible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005840" y="356616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1298448" y="344728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public, entraînement, certification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05840" y="406908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1298448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Certificats vérifiables &amp; badges partageables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05840" y="457200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3" name="Text 11"/>
          <p:cNvSpPr/>
          <p:nvPr/>
        </p:nvSpPr>
        <p:spPr>
          <a:xfrm>
            <a:off x="1298448" y="445312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pour les organisations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219456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121854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37960" y="2468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honnêteté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537960" y="3017520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6C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sommes au stade pilote. Nous ne communiquons aucun chiffre d’usage ni aucune caution que nous ne pouvons prouver.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6C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cherchons : des partenaires pilotes pour valider et faire grandir la plateforme ensemble.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PASSONS À L’ACTION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Devenez partenaire pilote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774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A237E"/>
          </a:solidFill>
          <a:ln/>
        </p:spPr>
      </p:sp>
      <p:sp>
        <p:nvSpPr>
          <p:cNvPr id="6" name="Text 4"/>
          <p:cNvSpPr/>
          <p:nvPr/>
        </p:nvSpPr>
        <p:spPr>
          <a:xfrm>
            <a:off x="1691640" y="22677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Écoles &amp; universités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65176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Lancez une cohorte pilote : dotation de codes offerts, suivi de progression, certificat qui valorise l’établissement.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108813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36118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67E22"/>
          </a:solidFill>
          <a:ln/>
        </p:spPr>
      </p:sp>
      <p:sp>
        <p:nvSpPr>
          <p:cNvPr id="10" name="Text 8"/>
          <p:cNvSpPr/>
          <p:nvPr/>
        </p:nvSpPr>
        <p:spPr>
          <a:xfrm>
            <a:off x="1691640" y="350215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Entreprises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8862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Testez le niveau numérique réel de vos candidats et employés, avec un reporting clair par compétence.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572000"/>
            <a:ext cx="108813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8A8FB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48463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691640" y="47365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206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Co-construisons un outil pilote mesurable au service de l’employabilité et de l’inclusion numérique.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8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A237E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4630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Faisons grandir la communauté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certifiés numériques.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le défi, découvrir les modules, ou devenir partenaire 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8920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syllabix-eight.vercel.app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A8A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Partenariats : /partenariats     ·     Défi : /defi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8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pilote — nous n’affirmons rien que nous ne puissions prouver.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2026-07-19T19:56:15Z</dcterms:created>
  <dcterms:modified xsi:type="dcterms:W3CDTF">2026-07-19T19:56:15Z</dcterms:modified>
</cp:coreProperties>
</file>